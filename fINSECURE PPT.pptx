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1" r:id="rId6"/>
    <p:sldId id="264" r:id="rId7"/>
    <p:sldId id="260" r:id="rId8"/>
    <p:sldId id="259" r:id="rId9"/>
    <p:sldId id="258" r:id="rId10"/>
    <p:sldId id="265" r:id="rId11"/>
    <p:sldId id="269" r:id="rId12"/>
  </p:sldIdLst>
  <p:sldSz cx="18288000" cy="10287000"/>
  <p:notesSz cx="6858000" cy="9144000"/>
  <p:embeddedFontLst>
    <p:embeddedFont>
      <p:font typeface="Etna Sans Serif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charset="0"/>
      <p:regular r:id="rId19"/>
    </p:embeddedFont>
    <p:embeddedFont>
      <p:font typeface="Poppins Extra-Ligh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1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34D49-0530-4883-B68C-15B7F42A669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EA4DA-40A4-4819-8AEC-67A2F6A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EA4DA-40A4-4819-8AEC-67A2F6A057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3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EA4DA-40A4-4819-8AEC-67A2F6A057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05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350702" y="2482182"/>
            <a:ext cx="3436024" cy="5215976"/>
          </a:xfrm>
          <a:custGeom>
            <a:avLst/>
            <a:gdLst/>
            <a:ahLst/>
            <a:cxnLst/>
            <a:rect l="l" t="t" r="r" b="b"/>
            <a:pathLst>
              <a:path w="3436024" h="5215976">
                <a:moveTo>
                  <a:pt x="0" y="0"/>
                </a:moveTo>
                <a:lnTo>
                  <a:pt x="3436024" y="0"/>
                </a:lnTo>
                <a:lnTo>
                  <a:pt x="3436024" y="5215976"/>
                </a:lnTo>
                <a:lnTo>
                  <a:pt x="0" y="5215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90498" y="-486700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932835">
            <a:off x="6549656" y="8868678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06217" y="544433"/>
            <a:ext cx="1146744" cy="1349110"/>
          </a:xfrm>
          <a:custGeom>
            <a:avLst/>
            <a:gdLst/>
            <a:ahLst/>
            <a:cxnLst/>
            <a:rect l="l" t="t" r="r" b="b"/>
            <a:pathLst>
              <a:path w="1146744" h="1349110">
                <a:moveTo>
                  <a:pt x="0" y="0"/>
                </a:moveTo>
                <a:lnTo>
                  <a:pt x="1146744" y="0"/>
                </a:lnTo>
                <a:lnTo>
                  <a:pt x="1146744" y="1349111"/>
                </a:lnTo>
                <a:lnTo>
                  <a:pt x="0" y="134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31279" y="1437697"/>
            <a:ext cx="774939" cy="911692"/>
          </a:xfrm>
          <a:custGeom>
            <a:avLst/>
            <a:gdLst/>
            <a:ahLst/>
            <a:cxnLst/>
            <a:rect l="l" t="t" r="r" b="b"/>
            <a:pathLst>
              <a:path w="774939" h="911692">
                <a:moveTo>
                  <a:pt x="0" y="0"/>
                </a:moveTo>
                <a:lnTo>
                  <a:pt x="774938" y="0"/>
                </a:lnTo>
                <a:lnTo>
                  <a:pt x="774938" y="911693"/>
                </a:lnTo>
                <a:lnTo>
                  <a:pt x="0" y="91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440452" y="8496413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98610" y="2704822"/>
            <a:ext cx="11720138" cy="259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23"/>
              </a:lnSpc>
            </a:pPr>
            <a:r>
              <a:rPr lang="en-US" sz="88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LEAKAGE DETECTION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8610" y="6129755"/>
            <a:ext cx="1193662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i="1" dirty="0">
                <a:solidFill>
                  <a:schemeClr val="tx2"/>
                </a:solidFill>
              </a:rPr>
              <a:t>Identifying revenue losses, uncovering root causes, and driving data-backed growth decisions</a:t>
            </a:r>
            <a:endParaRPr lang="en-US" sz="3200" i="1" dirty="0">
              <a:solidFill>
                <a:schemeClr val="tx2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86079" y="8614090"/>
            <a:ext cx="2804241" cy="45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  <a:spcBef>
                <a:spcPct val="0"/>
              </a:spcBef>
            </a:pPr>
            <a:r>
              <a:rPr lang="en-US" sz="2553" spc="-51" dirty="0">
                <a:solidFill>
                  <a:srgbClr val="004AAD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Akinlade Opeyemi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6079" y="8269377"/>
            <a:ext cx="2804241" cy="42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  <a:spcBef>
                <a:spcPct val="0"/>
              </a:spcBef>
            </a:pPr>
            <a:r>
              <a:rPr lang="en-US" sz="2553" spc="-51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Presented By: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62970E6-2889-4635-168C-35D95B5439CF}"/>
              </a:ext>
            </a:extLst>
          </p:cNvPr>
          <p:cNvSpPr txBox="1"/>
          <p:nvPr/>
        </p:nvSpPr>
        <p:spPr>
          <a:xfrm>
            <a:off x="920381" y="5073841"/>
            <a:ext cx="11936620" cy="65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4"/>
              </a:lnSpc>
              <a:spcBef>
                <a:spcPct val="0"/>
              </a:spcBef>
            </a:pPr>
            <a:r>
              <a:rPr lang="en-US" sz="3600" dirty="0">
                <a:solidFill>
                  <a:srgbClr val="004AAD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Finsecure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295199" y="2336050"/>
            <a:ext cx="3132286" cy="4754894"/>
          </a:xfrm>
          <a:custGeom>
            <a:avLst/>
            <a:gdLst/>
            <a:ahLst/>
            <a:cxnLst/>
            <a:rect l="l" t="t" r="r" b="b"/>
            <a:pathLst>
              <a:path w="3132286" h="4754894">
                <a:moveTo>
                  <a:pt x="0" y="0"/>
                </a:moveTo>
                <a:lnTo>
                  <a:pt x="3132286" y="0"/>
                </a:lnTo>
                <a:lnTo>
                  <a:pt x="3132286" y="4754894"/>
                </a:lnTo>
                <a:lnTo>
                  <a:pt x="0" y="475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795444" y="6968411"/>
            <a:ext cx="6339803" cy="1642772"/>
            <a:chOff x="0" y="0"/>
            <a:chExt cx="8453071" cy="2190363"/>
          </a:xfrm>
        </p:grpSpPr>
        <p:sp>
          <p:nvSpPr>
            <p:cNvPr id="4" name="Freeform 4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563130" y="1376634"/>
            <a:ext cx="7955369" cy="7666987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7932835">
            <a:off x="3044232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5451735" y="7187871"/>
            <a:ext cx="1921682" cy="1804957"/>
            <a:chOff x="0" y="0"/>
            <a:chExt cx="2562243" cy="2406609"/>
          </a:xfrm>
        </p:grpSpPr>
        <p:sp>
          <p:nvSpPr>
            <p:cNvPr id="12" name="Freeform 12"/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9974016" y="6084372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2356716" y="2921365"/>
            <a:ext cx="5540012" cy="5062186"/>
          </a:xfrm>
          <a:custGeom>
            <a:avLst/>
            <a:gdLst/>
            <a:ahLst/>
            <a:cxnLst/>
            <a:rect l="l" t="t" r="r" b="b"/>
            <a:pathLst>
              <a:path w="5540012" h="5062186">
                <a:moveTo>
                  <a:pt x="0" y="0"/>
                </a:moveTo>
                <a:lnTo>
                  <a:pt x="5540012" y="0"/>
                </a:lnTo>
                <a:lnTo>
                  <a:pt x="5540012" y="5062185"/>
                </a:lnTo>
                <a:lnTo>
                  <a:pt x="0" y="5062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152623" y="1146507"/>
            <a:ext cx="5189040" cy="460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4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INTRODUCTION</a:t>
            </a:r>
            <a:endParaRPr lang="en-US" sz="4000" dirty="0">
              <a:solidFill>
                <a:srgbClr val="004AAD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03876" y="2000810"/>
            <a:ext cx="9292823" cy="4863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FinSecure Technologies is a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financial technology (SaaS) company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 that provides digital payment and subscription-based solutions to customers.</a:t>
            </a:r>
          </a:p>
          <a:p>
            <a:pPr algn="just"/>
            <a:endParaRPr lang="en-US" sz="3200" dirty="0">
              <a:solidFill>
                <a:schemeClr val="tx2">
                  <a:lumMod val="50000"/>
                </a:schemeClr>
              </a:solidFill>
              <a:latin typeface="Poppins Extra-Light" panose="020B0604020202020204" charset="0"/>
              <a:cs typeface="Poppins Extra-Light" panose="020B0604020202020204" charset="0"/>
            </a:endParaRPr>
          </a:p>
          <a:p>
            <a:pPr algn="just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The company earns revenue through:</a:t>
            </a:r>
          </a:p>
          <a:p>
            <a:pPr algn="just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Monthly subscription plans</a:t>
            </a:r>
          </a:p>
          <a:p>
            <a:pPr algn="just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Paid features and add-ons</a:t>
            </a:r>
          </a:p>
          <a:p>
            <a:pPr algn="just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Long-term customer contracts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344FCC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66014-367B-7C36-C9BE-59F1FBE86690}"/>
              </a:ext>
            </a:extLst>
          </p:cNvPr>
          <p:cNvSpPr txBox="1"/>
          <p:nvPr/>
        </p:nvSpPr>
        <p:spPr>
          <a:xfrm>
            <a:off x="2129317" y="7257958"/>
            <a:ext cx="50101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“Why are we losing revenue we should have earned?”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249A-3DB4-B994-2E9A-BF1594C2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7A01C9-EDF1-35A7-0ADD-E903C9B459A3}"/>
              </a:ext>
            </a:extLst>
          </p:cNvPr>
          <p:cNvSpPr/>
          <p:nvPr/>
        </p:nvSpPr>
        <p:spPr>
          <a:xfrm rot="5400000" flipH="1" flipV="1">
            <a:off x="17076881" y="2336050"/>
            <a:ext cx="3132286" cy="4754894"/>
          </a:xfrm>
          <a:custGeom>
            <a:avLst/>
            <a:gdLst/>
            <a:ahLst/>
            <a:cxnLst/>
            <a:rect l="l" t="t" r="r" b="b"/>
            <a:pathLst>
              <a:path w="3132286" h="4754894">
                <a:moveTo>
                  <a:pt x="3132286" y="4754894"/>
                </a:moveTo>
                <a:lnTo>
                  <a:pt x="0" y="4754894"/>
                </a:lnTo>
                <a:lnTo>
                  <a:pt x="0" y="0"/>
                </a:lnTo>
                <a:lnTo>
                  <a:pt x="3132286" y="0"/>
                </a:lnTo>
                <a:lnTo>
                  <a:pt x="3132286" y="47548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BBD2DF-D928-E8D8-4730-3FA4281F5839}"/>
              </a:ext>
            </a:extLst>
          </p:cNvPr>
          <p:cNvSpPr/>
          <p:nvPr/>
        </p:nvSpPr>
        <p:spPr>
          <a:xfrm rot="5400000" flipH="1">
            <a:off x="-1755903" y="2336050"/>
            <a:ext cx="3132286" cy="4754894"/>
          </a:xfrm>
          <a:custGeom>
            <a:avLst/>
            <a:gdLst/>
            <a:ahLst/>
            <a:cxnLst/>
            <a:rect l="l" t="t" r="r" b="b"/>
            <a:pathLst>
              <a:path w="3132286" h="4754894">
                <a:moveTo>
                  <a:pt x="3132286" y="0"/>
                </a:moveTo>
                <a:lnTo>
                  <a:pt x="0" y="0"/>
                </a:lnTo>
                <a:lnTo>
                  <a:pt x="0" y="4754894"/>
                </a:lnTo>
                <a:lnTo>
                  <a:pt x="3132286" y="4754894"/>
                </a:lnTo>
                <a:lnTo>
                  <a:pt x="31322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B7F12DA-7E82-16D1-7BEE-0AA98967A295}"/>
              </a:ext>
            </a:extLst>
          </p:cNvPr>
          <p:cNvGrpSpPr/>
          <p:nvPr/>
        </p:nvGrpSpPr>
        <p:grpSpPr>
          <a:xfrm>
            <a:off x="4426051" y="1491750"/>
            <a:ext cx="11138096" cy="8104846"/>
            <a:chOff x="0" y="0"/>
            <a:chExt cx="11421064" cy="197295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1279FB1-CB1F-A22D-1134-E52C1A340BAA}"/>
                </a:ext>
              </a:extLst>
            </p:cNvPr>
            <p:cNvSpPr/>
            <p:nvPr/>
          </p:nvSpPr>
          <p:spPr>
            <a:xfrm rot="5400000">
              <a:off x="8937090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AC72BE-9E06-1F67-3EFA-77E7342A6935}"/>
                </a:ext>
              </a:extLst>
            </p:cNvPr>
            <p:cNvSpPr/>
            <p:nvPr/>
          </p:nvSpPr>
          <p:spPr>
            <a:xfrm rot="5400000">
              <a:off x="7079244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07A3316-DA89-F4F7-C63D-8C48789B197D}"/>
                </a:ext>
              </a:extLst>
            </p:cNvPr>
            <p:cNvSpPr/>
            <p:nvPr/>
          </p:nvSpPr>
          <p:spPr>
            <a:xfrm rot="5400000">
              <a:off x="5391843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519F2C2-E874-2EF1-6C08-CFEFB2B6B03D}"/>
                </a:ext>
              </a:extLst>
            </p:cNvPr>
            <p:cNvSpPr/>
            <p:nvPr/>
          </p:nvSpPr>
          <p:spPr>
            <a:xfrm rot="5400000">
              <a:off x="4318042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4" y="0"/>
                  </a:lnTo>
                  <a:lnTo>
                    <a:pt x="1972954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B1CCAB1-9555-2974-7D8E-D4C20511021C}"/>
                </a:ext>
              </a:extLst>
            </p:cNvPr>
            <p:cNvSpPr/>
            <p:nvPr/>
          </p:nvSpPr>
          <p:spPr>
            <a:xfrm rot="-5400000">
              <a:off x="511021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2A4462-5FD7-9319-2E84-132A10D9EC8A}"/>
                </a:ext>
              </a:extLst>
            </p:cNvPr>
            <p:cNvSpPr/>
            <p:nvPr/>
          </p:nvSpPr>
          <p:spPr>
            <a:xfrm rot="-5400000">
              <a:off x="2368867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C3933F5-78A8-59DF-D1B2-D3E978468122}"/>
                </a:ext>
              </a:extLst>
            </p:cNvPr>
            <p:cNvSpPr/>
            <p:nvPr/>
          </p:nvSpPr>
          <p:spPr>
            <a:xfrm rot="-5400000">
              <a:off x="4056268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4D53671-8DA7-D39F-8719-6CE93CB54506}"/>
                </a:ext>
              </a:extLst>
            </p:cNvPr>
            <p:cNvSpPr/>
            <p:nvPr/>
          </p:nvSpPr>
          <p:spPr>
            <a:xfrm rot="-5400000">
              <a:off x="5130068" y="-511021"/>
              <a:ext cx="1972953" cy="2994995"/>
            </a:xfrm>
            <a:custGeom>
              <a:avLst/>
              <a:gdLst/>
              <a:ahLst/>
              <a:cxnLst/>
              <a:rect l="l" t="t" r="r" b="b"/>
              <a:pathLst>
                <a:path w="1972953" h="2994995">
                  <a:moveTo>
                    <a:pt x="0" y="0"/>
                  </a:moveTo>
                  <a:lnTo>
                    <a:pt x="1972953" y="0"/>
                  </a:lnTo>
                  <a:lnTo>
                    <a:pt x="1972953" y="2994995"/>
                  </a:lnTo>
                  <a:lnTo>
                    <a:pt x="0" y="2994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6B69C27-DD0F-1FF6-9652-17DB8A7B1DF5}"/>
              </a:ext>
            </a:extLst>
          </p:cNvPr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CC94A740-0DB3-3831-8902-6F5F50D60357}"/>
              </a:ext>
            </a:extLst>
          </p:cNvPr>
          <p:cNvSpPr/>
          <p:nvPr/>
        </p:nvSpPr>
        <p:spPr>
          <a:xfrm rot="-7932835">
            <a:off x="1008321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5484BAB3-7788-488E-FD32-23C78AAB0E9E}"/>
              </a:ext>
            </a:extLst>
          </p:cNvPr>
          <p:cNvGrpSpPr/>
          <p:nvPr/>
        </p:nvGrpSpPr>
        <p:grpSpPr>
          <a:xfrm>
            <a:off x="16081828" y="8036403"/>
            <a:ext cx="1177472" cy="1105950"/>
            <a:chOff x="0" y="0"/>
            <a:chExt cx="1569962" cy="14746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AE4919C-7A5E-167B-EAA0-53BD4F744541}"/>
                </a:ext>
              </a:extLst>
            </p:cNvPr>
            <p:cNvSpPr/>
            <p:nvPr/>
          </p:nvSpPr>
          <p:spPr>
            <a:xfrm>
              <a:off x="633104" y="0"/>
              <a:ext cx="936858" cy="1102186"/>
            </a:xfrm>
            <a:custGeom>
              <a:avLst/>
              <a:gdLst/>
              <a:ahLst/>
              <a:cxnLst/>
              <a:rect l="l" t="t" r="r" b="b"/>
              <a:pathLst>
                <a:path w="936858" h="1102186">
                  <a:moveTo>
                    <a:pt x="0" y="0"/>
                  </a:moveTo>
                  <a:lnTo>
                    <a:pt x="936858" y="0"/>
                  </a:lnTo>
                  <a:lnTo>
                    <a:pt x="936858" y="1102186"/>
                  </a:lnTo>
                  <a:lnTo>
                    <a:pt x="0" y="1102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B24CC72-BFAB-FC39-58F6-41860B8ACEB5}"/>
                </a:ext>
              </a:extLst>
            </p:cNvPr>
            <p:cNvSpPr/>
            <p:nvPr/>
          </p:nvSpPr>
          <p:spPr>
            <a:xfrm>
              <a:off x="0" y="729773"/>
              <a:ext cx="633104" cy="744828"/>
            </a:xfrm>
            <a:custGeom>
              <a:avLst/>
              <a:gdLst/>
              <a:ahLst/>
              <a:cxnLst/>
              <a:rect l="l" t="t" r="r" b="b"/>
              <a:pathLst>
                <a:path w="633104" h="744828">
                  <a:moveTo>
                    <a:pt x="0" y="0"/>
                  </a:moveTo>
                  <a:lnTo>
                    <a:pt x="633104" y="0"/>
                  </a:lnTo>
                  <a:lnTo>
                    <a:pt x="633104" y="744827"/>
                  </a:lnTo>
                  <a:lnTo>
                    <a:pt x="0" y="74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40E59D9C-FC1D-47A3-DCC7-E50784B6F13B}"/>
              </a:ext>
            </a:extLst>
          </p:cNvPr>
          <p:cNvSpPr/>
          <p:nvPr/>
        </p:nvSpPr>
        <p:spPr>
          <a:xfrm>
            <a:off x="2747855" y="138092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7A01AA6-52A6-3379-83EA-2A829C17DFC2}"/>
              </a:ext>
            </a:extLst>
          </p:cNvPr>
          <p:cNvSpPr txBox="1"/>
          <p:nvPr/>
        </p:nvSpPr>
        <p:spPr>
          <a:xfrm>
            <a:off x="6417548" y="652304"/>
            <a:ext cx="5968859" cy="612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8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OBJECTIVES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932A00-A005-8F17-256F-33920B25DD25}"/>
              </a:ext>
            </a:extLst>
          </p:cNvPr>
          <p:cNvSpPr txBox="1"/>
          <p:nvPr/>
        </p:nvSpPr>
        <p:spPr>
          <a:xfrm>
            <a:off x="5867400" y="1953728"/>
            <a:ext cx="853728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50000"/>
                  </a:schemeClr>
                </a:solidFill>
              </a:rPr>
              <a:t>Goal of the Analysis</a:t>
            </a:r>
          </a:p>
          <a:p>
            <a:endParaRPr lang="en-US" sz="44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The purpose of this project is to:</a:t>
            </a:r>
          </a:p>
          <a:p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Identify </a:t>
            </a:r>
            <a:r>
              <a:rPr lang="en-US" sz="4400" b="1" dirty="0">
                <a:solidFill>
                  <a:schemeClr val="tx2">
                    <a:lumMod val="50000"/>
                  </a:schemeClr>
                </a:solidFill>
              </a:rPr>
              <a:t>where revenue is being lost</a:t>
            </a:r>
          </a:p>
          <a:p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Understand </a:t>
            </a:r>
            <a:r>
              <a:rPr lang="en-US" sz="4400" b="1" dirty="0">
                <a:solidFill>
                  <a:schemeClr val="tx2">
                    <a:lumMod val="50000"/>
                  </a:schemeClr>
                </a:solidFill>
              </a:rPr>
              <a:t>why it is happening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Recommend </a:t>
            </a:r>
            <a:r>
              <a:rPr lang="en-US" sz="4400" b="1" dirty="0">
                <a:solidFill>
                  <a:schemeClr val="tx2">
                    <a:lumMod val="50000"/>
                  </a:schemeClr>
                </a:solidFill>
              </a:rPr>
              <a:t>actions that can recover lost revenue</a:t>
            </a:r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4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4400" dirty="0">
                <a:solidFill>
                  <a:schemeClr val="tx2">
                    <a:lumMod val="50000"/>
                  </a:schemeClr>
                </a:solidFill>
              </a:rPr>
              <a:t>Improve long-term profitability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FBA9354-722C-A6BA-5A14-CBD134D1E58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92" y="3467100"/>
            <a:ext cx="379236" cy="43017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F8953C7-B862-80BD-9F03-6F594BFE3DA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92" y="5544172"/>
            <a:ext cx="379236" cy="43017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3953629-4D0A-34C6-9F14-3452F79E93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03" y="8156455"/>
            <a:ext cx="379236" cy="43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9F6E4-7CD0-55DD-790D-DCF9108E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401D58-0561-08E2-3BFF-D08C71EC24D5}"/>
              </a:ext>
            </a:extLst>
          </p:cNvPr>
          <p:cNvSpPr/>
          <p:nvPr/>
        </p:nvSpPr>
        <p:spPr>
          <a:xfrm rot="5400000">
            <a:off x="-1278630" y="2151399"/>
            <a:ext cx="2245145" cy="3408190"/>
          </a:xfrm>
          <a:custGeom>
            <a:avLst/>
            <a:gdLst/>
            <a:ahLst/>
            <a:cxnLst/>
            <a:rect l="l" t="t" r="r" b="b"/>
            <a:pathLst>
              <a:path w="2245145" h="3408190">
                <a:moveTo>
                  <a:pt x="0" y="0"/>
                </a:moveTo>
                <a:lnTo>
                  <a:pt x="2245145" y="0"/>
                </a:lnTo>
                <a:lnTo>
                  <a:pt x="2245145" y="3408191"/>
                </a:lnTo>
                <a:lnTo>
                  <a:pt x="0" y="3408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0893C82-AA96-227A-1EE3-9E3624D6F078}"/>
              </a:ext>
            </a:extLst>
          </p:cNvPr>
          <p:cNvSpPr/>
          <p:nvPr/>
        </p:nvSpPr>
        <p:spPr>
          <a:xfrm>
            <a:off x="9144000" y="1505392"/>
            <a:ext cx="7955369" cy="7666987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9" y="0"/>
                </a:lnTo>
                <a:lnTo>
                  <a:pt x="7955369" y="7666986"/>
                </a:lnTo>
                <a:lnTo>
                  <a:pt x="0" y="7666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DF1B6B-F3AB-7029-665F-AA60D9BF6BDB}"/>
              </a:ext>
            </a:extLst>
          </p:cNvPr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5274274-35D8-7473-BD64-0E417461B9D0}"/>
              </a:ext>
            </a:extLst>
          </p:cNvPr>
          <p:cNvSpPr/>
          <p:nvPr/>
        </p:nvSpPr>
        <p:spPr>
          <a:xfrm rot="-7932835">
            <a:off x="12504193" y="9091882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6A6ACE5-1783-918C-147A-C8339F100DD2}"/>
              </a:ext>
            </a:extLst>
          </p:cNvPr>
          <p:cNvGrpSpPr/>
          <p:nvPr/>
        </p:nvGrpSpPr>
        <p:grpSpPr>
          <a:xfrm>
            <a:off x="15663279" y="7662531"/>
            <a:ext cx="1921682" cy="1804957"/>
            <a:chOff x="0" y="0"/>
            <a:chExt cx="2562243" cy="240660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47DD720-4BBC-1A91-1FE7-34A13FA3FB5C}"/>
                </a:ext>
              </a:extLst>
            </p:cNvPr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DB18EB0-2E5E-7BBC-D669-13A59954399F}"/>
                </a:ext>
              </a:extLst>
            </p:cNvPr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F324343-D92B-232B-DFCB-B014D537BB5A}"/>
              </a:ext>
            </a:extLst>
          </p:cNvPr>
          <p:cNvSpPr/>
          <p:nvPr/>
        </p:nvSpPr>
        <p:spPr>
          <a:xfrm>
            <a:off x="9250843" y="856500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49A7CEF-180D-FBF8-6451-8D3868AF30E1}"/>
              </a:ext>
            </a:extLst>
          </p:cNvPr>
          <p:cNvSpPr txBox="1"/>
          <p:nvPr/>
        </p:nvSpPr>
        <p:spPr>
          <a:xfrm>
            <a:off x="1724444" y="1053858"/>
            <a:ext cx="7321121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0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Leakage Dashboard</a:t>
            </a:r>
            <a:endParaRPr lang="en-US" sz="3506" dirty="0">
              <a:solidFill>
                <a:srgbClr val="004AAD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B938727-90C5-9ED4-EF61-E77406609519}"/>
              </a:ext>
            </a:extLst>
          </p:cNvPr>
          <p:cNvSpPr txBox="1"/>
          <p:nvPr/>
        </p:nvSpPr>
        <p:spPr>
          <a:xfrm>
            <a:off x="1821551" y="2896492"/>
            <a:ext cx="6103265" cy="147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FinSecure is losing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3.36% of its expected revenue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Poppins Extra-Light" panose="020B0604020202020204" charset="0"/>
                <a:cs typeface="Poppins Extra-Light" panose="020B0604020202020204" charset="0"/>
              </a:rPr>
              <a:t> due to operational and customer-related issues.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1D9EE5-433F-7CC2-BD97-0BDA260C2736}"/>
              </a:ext>
            </a:extLst>
          </p:cNvPr>
          <p:cNvSpPr txBox="1"/>
          <p:nvPr/>
        </p:nvSpPr>
        <p:spPr>
          <a:xfrm>
            <a:off x="1999325" y="1501160"/>
            <a:ext cx="592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is happening?</a:t>
            </a:r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8B54EF-651B-F999-0D10-16946614B5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16" y="2210849"/>
            <a:ext cx="10918659" cy="6157139"/>
          </a:xfrm>
          <a:prstGeom prst="rect">
            <a:avLst/>
          </a:prstGeom>
        </p:spPr>
      </p:pic>
      <p:grpSp>
        <p:nvGrpSpPr>
          <p:cNvPr id="36" name="Group 10">
            <a:extLst>
              <a:ext uri="{FF2B5EF4-FFF2-40B4-BE49-F238E27FC236}">
                <a16:creationId xmlns:a16="http://schemas.microsoft.com/office/drawing/2014/main" id="{75F72462-5976-8A74-94DC-75F2763D720B}"/>
              </a:ext>
            </a:extLst>
          </p:cNvPr>
          <p:cNvGrpSpPr/>
          <p:nvPr/>
        </p:nvGrpSpPr>
        <p:grpSpPr>
          <a:xfrm>
            <a:off x="1666594" y="4211586"/>
            <a:ext cx="6339803" cy="1642772"/>
            <a:chOff x="0" y="0"/>
            <a:chExt cx="8453071" cy="2190363"/>
          </a:xfrm>
        </p:grpSpPr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2D264BC-5D63-09AE-DD3C-0609F99F097B}"/>
                </a:ext>
              </a:extLst>
            </p:cNvPr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4562D945-294F-E635-A2B3-1083F98B28CF}"/>
                </a:ext>
              </a:extLst>
            </p:cNvPr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18FDA950-F830-604D-E150-086E23A61223}"/>
                </a:ext>
              </a:extLst>
            </p:cNvPr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21CBA72B-69D7-0702-212A-9CFBA9342CA5}"/>
                </a:ext>
              </a:extLst>
            </p:cNvPr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A444655B-69CF-B862-4E1F-23A968841F08}"/>
              </a:ext>
            </a:extLst>
          </p:cNvPr>
          <p:cNvGrpSpPr/>
          <p:nvPr/>
        </p:nvGrpSpPr>
        <p:grpSpPr>
          <a:xfrm>
            <a:off x="1703282" y="6559814"/>
            <a:ext cx="6339803" cy="2004969"/>
            <a:chOff x="0" y="0"/>
            <a:chExt cx="8453071" cy="2190363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334DFF5F-7B35-9DB0-180D-802028F4C5B4}"/>
                </a:ext>
              </a:extLst>
            </p:cNvPr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BD1C0002-CC9F-81ED-7E9E-9C3243E6C1D8}"/>
                </a:ext>
              </a:extLst>
            </p:cNvPr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9732B8D3-9E54-C72B-DF71-14784C64EAD9}"/>
                </a:ext>
              </a:extLst>
            </p:cNvPr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A9C42237-BE2A-9072-C6E9-79098E396A3E}"/>
                </a:ext>
              </a:extLst>
            </p:cNvPr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C12C03E-96A4-F64C-C9C3-4ED3D5747383}"/>
              </a:ext>
            </a:extLst>
          </p:cNvPr>
          <p:cNvSpPr txBox="1"/>
          <p:nvPr/>
        </p:nvSpPr>
        <p:spPr>
          <a:xfrm>
            <a:off x="1950107" y="4466273"/>
            <a:ext cx="5925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Revenue</a:t>
            </a:r>
          </a:p>
          <a:p>
            <a:r>
              <a:rPr lang="en-US" dirty="0"/>
              <a:t> What the company planned to earn based on subscriptions.</a:t>
            </a:r>
          </a:p>
          <a:p>
            <a:r>
              <a:rPr lang="en-US" b="1" dirty="0"/>
              <a:t>Actual Revenue</a:t>
            </a:r>
          </a:p>
          <a:p>
            <a:r>
              <a:rPr lang="en-US" dirty="0"/>
              <a:t>What the company actually received.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F69E66-0C28-7934-48E4-51B5372BE27C}"/>
              </a:ext>
            </a:extLst>
          </p:cNvPr>
          <p:cNvSpPr txBox="1"/>
          <p:nvPr/>
        </p:nvSpPr>
        <p:spPr>
          <a:xfrm>
            <a:off x="1925678" y="6559814"/>
            <a:ext cx="59254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Upsell Opportunity Customers</a:t>
            </a:r>
          </a:p>
          <a:p>
            <a:r>
              <a:rPr lang="en-US" dirty="0"/>
              <a:t>Customers who:</a:t>
            </a:r>
          </a:p>
          <a:p>
            <a:r>
              <a:rPr lang="en-US" dirty="0"/>
              <a:t>Are active</a:t>
            </a:r>
          </a:p>
          <a:p>
            <a:r>
              <a:rPr lang="en-US" dirty="0"/>
              <a:t>Can afford higher plans</a:t>
            </a:r>
          </a:p>
          <a:p>
            <a:r>
              <a:rPr lang="en-US" dirty="0"/>
              <a:t>Are good candidates for upgrades</a:t>
            </a:r>
          </a:p>
          <a:p>
            <a:r>
              <a:rPr lang="en-US" i="1" dirty="0"/>
              <a:t>(Upsell = encouraging customers to move to a higher-value plan.)</a:t>
            </a:r>
            <a:endParaRPr lang="en-US" dirty="0"/>
          </a:p>
          <a:p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0583F95-488A-8507-39DE-5323058E7B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460" y="4531185"/>
            <a:ext cx="233773" cy="26517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58384B0-71BC-EFEE-EF0A-8405BA6D7E8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158" y="5073709"/>
            <a:ext cx="233773" cy="26517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1CA89FD-47F3-17EE-E9CF-79AACEF4554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552" y="6649057"/>
            <a:ext cx="23377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8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752819" y="3238500"/>
            <a:ext cx="6839981" cy="7086600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451735" y="7187871"/>
            <a:ext cx="1921682" cy="1804957"/>
            <a:chOff x="0" y="0"/>
            <a:chExt cx="2562243" cy="2406609"/>
          </a:xfrm>
        </p:grpSpPr>
        <p:sp>
          <p:nvSpPr>
            <p:cNvPr id="7" name="Freeform 7"/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7615711" y="159380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223842" y="5546822"/>
            <a:ext cx="10663367" cy="3470164"/>
            <a:chOff x="0" y="0"/>
            <a:chExt cx="8453071" cy="2190363"/>
          </a:xfrm>
        </p:grpSpPr>
        <p:sp>
          <p:nvSpPr>
            <p:cNvPr id="11" name="Freeform 11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42669" y="4671799"/>
            <a:ext cx="4194450" cy="4154128"/>
          </a:xfrm>
          <a:custGeom>
            <a:avLst/>
            <a:gdLst/>
            <a:ahLst/>
            <a:cxnLst/>
            <a:rect l="l" t="t" r="r" b="b"/>
            <a:pathLst>
              <a:path w="5756403" h="6099500">
                <a:moveTo>
                  <a:pt x="0" y="0"/>
                </a:moveTo>
                <a:lnTo>
                  <a:pt x="5756403" y="0"/>
                </a:lnTo>
                <a:lnTo>
                  <a:pt x="5756403" y="6099500"/>
                </a:lnTo>
                <a:lnTo>
                  <a:pt x="0" y="6099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1999324" y="870239"/>
            <a:ext cx="6382675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6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</a:t>
            </a:r>
            <a:r>
              <a:rPr lang="en-US" sz="40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Leakage</a:t>
            </a:r>
            <a:r>
              <a:rPr lang="en-US" sz="36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Insight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8038" y="2442877"/>
            <a:ext cx="9958162" cy="3370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Revenue leakage occurs across all subscription tiers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(Basic, Enterprise, Premium), indicating a systemic issue rather than a plan-specific problem.</a:t>
            </a:r>
          </a:p>
          <a:p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Discount-related leakage is the primary driver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, contributing the largest share of revenue loss across every subscription plan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(e.g., Basic plan discount leakage ≈ $3.2K).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97684-7241-C682-8132-CB185969C96F}"/>
              </a:ext>
            </a:extLst>
          </p:cNvPr>
          <p:cNvSpPr txBox="1"/>
          <p:nvPr/>
        </p:nvSpPr>
        <p:spPr>
          <a:xfrm>
            <a:off x="1999325" y="1325841"/>
            <a:ext cx="5177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does the data reveal?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68DEF2EC-F622-AB1E-1765-27CB6E780E65}"/>
              </a:ext>
            </a:extLst>
          </p:cNvPr>
          <p:cNvSpPr txBox="1"/>
          <p:nvPr/>
        </p:nvSpPr>
        <p:spPr>
          <a:xfrm>
            <a:off x="1407702" y="6053177"/>
            <a:ext cx="9958162" cy="2939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Leakage impacts the entire customer base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with all 2,000 customers affected and an average loss of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$1.52 per customer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which becomes material at scale.</a:t>
            </a:r>
          </a:p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Leakage is distributed across all regions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confirming the issue is company-wide and linked to internal pricing, billing, and usage processes rather than geography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33658" y="1505392"/>
            <a:ext cx="7955369" cy="7666987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8" y="0"/>
                </a:lnTo>
                <a:lnTo>
                  <a:pt x="7955368" y="7666986"/>
                </a:lnTo>
                <a:lnTo>
                  <a:pt x="0" y="7666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4652168">
            <a:off x="17184271" y="-859048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 rot="-7932835">
            <a:off x="951463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67171" y="-60317"/>
            <a:ext cx="1366487" cy="1279254"/>
            <a:chOff x="0" y="0"/>
            <a:chExt cx="2562243" cy="2406609"/>
          </a:xfrm>
        </p:grpSpPr>
        <p:sp>
          <p:nvSpPr>
            <p:cNvPr id="7" name="Freeform 7"/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8341429" y="856500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624588" y="3696113"/>
            <a:ext cx="6339803" cy="1642772"/>
            <a:chOff x="0" y="0"/>
            <a:chExt cx="8453071" cy="2190363"/>
          </a:xfrm>
        </p:grpSpPr>
        <p:sp>
          <p:nvSpPr>
            <p:cNvPr id="11" name="Freeform 11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96476" y="6057900"/>
            <a:ext cx="6339803" cy="2753856"/>
            <a:chOff x="0" y="0"/>
            <a:chExt cx="8453071" cy="2190363"/>
          </a:xfrm>
        </p:grpSpPr>
        <p:sp>
          <p:nvSpPr>
            <p:cNvPr id="16" name="Freeform 16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93851" y="790198"/>
            <a:ext cx="7575928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0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Billing and Payment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90833" y="2217344"/>
            <a:ext cx="6103265" cy="147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Billing and payment errors are causing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immediate revenue loss and cash-flow risk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EF7548-B3AB-3B88-8C2F-C905DBEB4402}"/>
              </a:ext>
            </a:extLst>
          </p:cNvPr>
          <p:cNvSpPr txBox="1"/>
          <p:nvPr/>
        </p:nvSpPr>
        <p:spPr>
          <a:xfrm>
            <a:off x="9889044" y="1134737"/>
            <a:ext cx="592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is happening?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84F073-41BF-6D3C-4C69-05B4D5746B7F}"/>
              </a:ext>
            </a:extLst>
          </p:cNvPr>
          <p:cNvSpPr txBox="1"/>
          <p:nvPr/>
        </p:nvSpPr>
        <p:spPr>
          <a:xfrm>
            <a:off x="10815324" y="3791192"/>
            <a:ext cx="53507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Billing Contribution Insight</a:t>
            </a:r>
          </a:p>
          <a:p>
            <a:pPr algn="just"/>
            <a:r>
              <a:rPr lang="en-US" sz="2800" dirty="0"/>
              <a:t>Billing errors contribute </a:t>
            </a:r>
            <a:r>
              <a:rPr lang="en-US" sz="2800" b="1" dirty="0"/>
              <a:t>15.9% of total revenue leakage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C0D1F6-09F1-AACB-F5AD-BDD0101D0913}"/>
              </a:ext>
            </a:extLst>
          </p:cNvPr>
          <p:cNvSpPr txBox="1"/>
          <p:nvPr/>
        </p:nvSpPr>
        <p:spPr>
          <a:xfrm>
            <a:off x="9930181" y="6134100"/>
            <a:ext cx="5843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Majority of leakage comes from discounts</a:t>
            </a:r>
          </a:p>
          <a:p>
            <a:r>
              <a:rPr lang="en-US" sz="2800" dirty="0"/>
              <a:t>But </a:t>
            </a:r>
            <a:r>
              <a:rPr lang="en-US" sz="2800" b="1" dirty="0"/>
              <a:t>billing errors are more urgent</a:t>
            </a:r>
            <a:r>
              <a:rPr lang="en-US" sz="2800" dirty="0"/>
              <a:t>, because:</a:t>
            </a:r>
          </a:p>
          <a:p>
            <a:r>
              <a:rPr lang="en-US" sz="2800" dirty="0"/>
              <a:t>They create immediate operational and cash-flow risks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7E5F7E2-9576-3377-3EC1-7CBC290C6B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2187988"/>
            <a:ext cx="10899648" cy="601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932835">
            <a:off x="3044232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485621" y="7784171"/>
            <a:ext cx="1921682" cy="1804957"/>
            <a:chOff x="0" y="0"/>
            <a:chExt cx="2562243" cy="2406609"/>
          </a:xfrm>
        </p:grpSpPr>
        <p:sp>
          <p:nvSpPr>
            <p:cNvPr id="6" name="Freeform 6"/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820334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644753" y="5018314"/>
            <a:ext cx="6339803" cy="1642772"/>
            <a:chOff x="0" y="0"/>
            <a:chExt cx="8453071" cy="2190363"/>
          </a:xfrm>
        </p:grpSpPr>
        <p:sp>
          <p:nvSpPr>
            <p:cNvPr id="10" name="Freeform 10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01200" y="447461"/>
            <a:ext cx="7845154" cy="870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0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Customer Segmentation 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753" y="5158375"/>
            <a:ext cx="6197463" cy="1587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>
              <a:lnSpc>
                <a:spcPts val="2520"/>
              </a:lnSpc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Insight</a:t>
            </a:r>
          </a:p>
          <a:p>
            <a:pPr marL="194311" lvl="1">
              <a:lnSpc>
                <a:spcPts val="2520"/>
              </a:lnSpc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Most customers are retained, with a strong upsell opportunity and a small at-risk segment requiring targeted attention.</a:t>
            </a:r>
          </a:p>
          <a:p>
            <a:pPr marL="194311" lvl="1"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3389" y="1813081"/>
            <a:ext cx="8677925" cy="300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Customer Segmentation?</a:t>
            </a:r>
          </a:p>
          <a:p>
            <a:endParaRPr lang="en-US" sz="28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segmentation means grouping customers based on: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much value they bring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long they stay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well they use paid features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DA0DAF-C200-AC05-CFCA-13B8FDDBB0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350" y="1799169"/>
            <a:ext cx="10917936" cy="6182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478184" y="1507123"/>
            <a:ext cx="6547711" cy="2247332"/>
            <a:chOff x="0" y="0"/>
            <a:chExt cx="8453071" cy="2190363"/>
          </a:xfrm>
        </p:grpSpPr>
        <p:sp>
          <p:nvSpPr>
            <p:cNvPr id="4" name="Freeform 4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9144000" y="1325841"/>
            <a:ext cx="7955369" cy="7666987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9" y="0"/>
                </a:lnTo>
                <a:lnTo>
                  <a:pt x="7955369" y="7666987"/>
                </a:lnTo>
                <a:lnTo>
                  <a:pt x="0" y="7666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5451735" y="7187871"/>
            <a:ext cx="1921682" cy="1804957"/>
            <a:chOff x="0" y="0"/>
            <a:chExt cx="2562243" cy="2406609"/>
          </a:xfrm>
        </p:grpSpPr>
        <p:sp>
          <p:nvSpPr>
            <p:cNvPr id="17" name="Freeform 17"/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7615711" y="159380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704261" y="825510"/>
            <a:ext cx="7636411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00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Subscription and CLV Dashboard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0675" y="1564275"/>
            <a:ext cx="6103265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What is Subscription &amp; CLV?</a:t>
            </a: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🔹 Subscription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How long customers stay active.</a:t>
            </a: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🔹 CLV (Customer Lifetime Value)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Total revenue a customer generates over their entire relationship with the company.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2957" y="4080127"/>
            <a:ext cx="8175501" cy="5537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the data is telling us: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Long-term customers generate nearly 4× more lifetime value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than short-term customers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(Average CLV: $308.58 vs $79.67).</a:t>
            </a: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Although FinSecure has a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strong overall retention rate (84.3%)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customer churn still impacts revenue:</a:t>
            </a:r>
          </a:p>
          <a:p>
            <a:pPr lvl="1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314 customers have churned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15.7% churn rate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represents lost future value.</a:t>
            </a: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average subscription duration of 6.7 months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indicates that many customers do not remain active long enough to reach their full revenue potential.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 a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CLV of $545.3K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even small improvements in retention duration can create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significant long-term revenue uplift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endParaRPr lang="en-US"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93A08A7-ACAB-8F49-2A81-C316C79BA9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322" y="2104194"/>
            <a:ext cx="10698480" cy="6127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7076881" y="2336050"/>
            <a:ext cx="3132286" cy="4754894"/>
          </a:xfrm>
          <a:custGeom>
            <a:avLst/>
            <a:gdLst/>
            <a:ahLst/>
            <a:cxnLst/>
            <a:rect l="l" t="t" r="r" b="b"/>
            <a:pathLst>
              <a:path w="3132286" h="4754894">
                <a:moveTo>
                  <a:pt x="3132286" y="4754894"/>
                </a:moveTo>
                <a:lnTo>
                  <a:pt x="0" y="4754894"/>
                </a:lnTo>
                <a:lnTo>
                  <a:pt x="0" y="0"/>
                </a:lnTo>
                <a:lnTo>
                  <a:pt x="3132286" y="0"/>
                </a:lnTo>
                <a:lnTo>
                  <a:pt x="3132286" y="4754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 flipH="1">
            <a:off x="-1755903" y="2336050"/>
            <a:ext cx="3132286" cy="4754894"/>
          </a:xfrm>
          <a:custGeom>
            <a:avLst/>
            <a:gdLst/>
            <a:ahLst/>
            <a:cxnLst/>
            <a:rect l="l" t="t" r="r" b="b"/>
            <a:pathLst>
              <a:path w="3132286" h="4754894">
                <a:moveTo>
                  <a:pt x="3132286" y="0"/>
                </a:moveTo>
                <a:lnTo>
                  <a:pt x="0" y="0"/>
                </a:lnTo>
                <a:lnTo>
                  <a:pt x="0" y="4754894"/>
                </a:lnTo>
                <a:lnTo>
                  <a:pt x="3132286" y="4754894"/>
                </a:lnTo>
                <a:lnTo>
                  <a:pt x="313228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751828" y="7580972"/>
            <a:ext cx="5506570" cy="9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100" dirty="0">
                <a:solidFill>
                  <a:srgbClr val="344F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Target </a:t>
            </a:r>
            <a:r>
              <a:rPr lang="en-US" sz="2100" b="1" dirty="0">
                <a:solidFill>
                  <a:srgbClr val="344F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upsell-ready customers</a:t>
            </a:r>
            <a:r>
              <a:rPr lang="en-US" sz="2100" dirty="0">
                <a:solidFill>
                  <a:srgbClr val="344F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with upgrade campaigns</a:t>
            </a:r>
          </a:p>
          <a:p>
            <a:r>
              <a:rPr lang="en-US" sz="2100" dirty="0">
                <a:solidFill>
                  <a:srgbClr val="344F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Introduce feature-based pricing tiers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5785" y="7487305"/>
            <a:ext cx="550657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100" dirty="0">
                <a:solidFill>
                  <a:srgbClr val="344FCC"/>
                </a:solidFill>
                <a:latin typeface="Poppins "/>
              </a:rPr>
              <a:t>Focus retention efforts on short-term users</a:t>
            </a:r>
          </a:p>
          <a:p>
            <a:r>
              <a:rPr lang="en-US" sz="2100" dirty="0">
                <a:solidFill>
                  <a:srgbClr val="344FCC"/>
                </a:solidFill>
                <a:latin typeface="Poppins "/>
              </a:rPr>
              <a:t>Incentivize long-term subscriptions</a:t>
            </a:r>
          </a:p>
          <a:p>
            <a:r>
              <a:rPr lang="en-US" sz="2100" dirty="0">
                <a:solidFill>
                  <a:srgbClr val="344FCC"/>
                </a:solidFill>
                <a:latin typeface="Poppins "/>
              </a:rPr>
              <a:t>Reduce churn through loyalty programs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60013" y="3458732"/>
            <a:ext cx="5506569" cy="685192"/>
            <a:chOff x="0" y="0"/>
            <a:chExt cx="5107630" cy="913589"/>
          </a:xfrm>
        </p:grpSpPr>
        <p:sp>
          <p:nvSpPr>
            <p:cNvPr id="17" name="Freeform 17"/>
            <p:cNvSpPr/>
            <p:nvPr/>
          </p:nvSpPr>
          <p:spPr>
            <a:xfrm rot="5400000">
              <a:off x="395741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 rot="5400000">
              <a:off x="309712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 rot="5400000">
              <a:off x="231576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 rot="5400000">
              <a:off x="181853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 rot="5400000">
              <a:off x="2375511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 rot="5400000">
              <a:off x="1515224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 rot="5400000">
              <a:off x="73386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3663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942110" y="3458732"/>
            <a:ext cx="4792372" cy="685192"/>
            <a:chOff x="0" y="0"/>
            <a:chExt cx="5107630" cy="913589"/>
          </a:xfrm>
        </p:grpSpPr>
        <p:sp>
          <p:nvSpPr>
            <p:cNvPr id="26" name="Freeform 26"/>
            <p:cNvSpPr/>
            <p:nvPr/>
          </p:nvSpPr>
          <p:spPr>
            <a:xfrm rot="5400000">
              <a:off x="395741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 rot="5400000">
              <a:off x="309712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31576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 rot="5400000">
              <a:off x="181853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 rot="5400000">
              <a:off x="2375511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 rot="5400000">
              <a:off x="1515224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73386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 rot="5400000">
              <a:off x="23663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/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7932835">
            <a:off x="1008321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6081828" y="8036403"/>
            <a:ext cx="1177472" cy="1105950"/>
            <a:chOff x="0" y="0"/>
            <a:chExt cx="1569962" cy="1474600"/>
          </a:xfrm>
        </p:grpSpPr>
        <p:sp>
          <p:nvSpPr>
            <p:cNvPr id="37" name="Freeform 37"/>
            <p:cNvSpPr/>
            <p:nvPr/>
          </p:nvSpPr>
          <p:spPr>
            <a:xfrm>
              <a:off x="633104" y="0"/>
              <a:ext cx="936858" cy="1102186"/>
            </a:xfrm>
            <a:custGeom>
              <a:avLst/>
              <a:gdLst/>
              <a:ahLst/>
              <a:cxnLst/>
              <a:rect l="l" t="t" r="r" b="b"/>
              <a:pathLst>
                <a:path w="936858" h="1102186">
                  <a:moveTo>
                    <a:pt x="0" y="0"/>
                  </a:moveTo>
                  <a:lnTo>
                    <a:pt x="936858" y="0"/>
                  </a:lnTo>
                  <a:lnTo>
                    <a:pt x="936858" y="1102186"/>
                  </a:lnTo>
                  <a:lnTo>
                    <a:pt x="0" y="1102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729773"/>
              <a:ext cx="633104" cy="744828"/>
            </a:xfrm>
            <a:custGeom>
              <a:avLst/>
              <a:gdLst/>
              <a:ahLst/>
              <a:cxnLst/>
              <a:rect l="l" t="t" r="r" b="b"/>
              <a:pathLst>
                <a:path w="633104" h="744828">
                  <a:moveTo>
                    <a:pt x="0" y="0"/>
                  </a:moveTo>
                  <a:lnTo>
                    <a:pt x="633104" y="0"/>
                  </a:lnTo>
                  <a:lnTo>
                    <a:pt x="633104" y="744827"/>
                  </a:lnTo>
                  <a:lnTo>
                    <a:pt x="0" y="74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2747855" y="138092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659291" y="1075365"/>
            <a:ext cx="5134682" cy="1215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4957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What Should We Do Next</a:t>
            </a:r>
          </a:p>
        </p:txBody>
      </p:sp>
      <p:sp>
        <p:nvSpPr>
          <p:cNvPr id="41" name="AutoShape 41"/>
          <p:cNvSpPr/>
          <p:nvPr/>
        </p:nvSpPr>
        <p:spPr>
          <a:xfrm>
            <a:off x="9013515" y="3640849"/>
            <a:ext cx="0" cy="1807092"/>
          </a:xfrm>
          <a:prstGeom prst="line">
            <a:avLst/>
          </a:prstGeom>
          <a:ln w="38100" cap="flat">
            <a:solidFill>
              <a:srgbClr val="344F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 flipH="1">
            <a:off x="9043050" y="6705807"/>
            <a:ext cx="0" cy="1877926"/>
          </a:xfrm>
          <a:prstGeom prst="line">
            <a:avLst/>
          </a:prstGeom>
          <a:ln w="38100" cap="flat">
            <a:solidFill>
              <a:srgbClr val="344F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4014696" y="3544524"/>
            <a:ext cx="4719787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Billing Process Improvements</a:t>
            </a:r>
            <a:endParaRPr lang="en-US" sz="2400" b="1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585020" y="3526213"/>
            <a:ext cx="516810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latin typeface="Poppins Bold" panose="00000800000000000000" charset="0"/>
                <a:cs typeface="Poppins Bold" panose="00000800000000000000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Pricing &amp; Discount Optimization</a:t>
            </a:r>
            <a:endParaRPr lang="en-US" sz="2400" b="1" dirty="0">
              <a:solidFill>
                <a:schemeClr val="bg1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281195" y="4222968"/>
            <a:ext cx="3841244" cy="229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344FCC"/>
                </a:solidFill>
                <a:latin typeface="Poppins "/>
              </a:rPr>
              <a:t>Automate billing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344FCC"/>
                </a:solidFill>
                <a:latin typeface="Poppins "/>
              </a:rPr>
              <a:t>Reduce manual billing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344FCC"/>
                </a:solidFill>
                <a:latin typeface="Poppins "/>
              </a:rPr>
              <a:t>Monitor high-risk payment periods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endParaRPr lang="en-US" sz="2100" dirty="0">
              <a:solidFill>
                <a:srgbClr val="344F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801362" y="4222968"/>
            <a:ext cx="4066111" cy="1970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100" dirty="0">
                <a:solidFill>
                  <a:srgbClr val="344FCC"/>
                </a:solidFill>
                <a:latin typeface="Poppins "/>
                <a:cs typeface="Poppins Bold" panose="00000800000000000000" charset="0"/>
              </a:rPr>
              <a:t>Review discount approval rules</a:t>
            </a:r>
          </a:p>
          <a:p>
            <a:r>
              <a:rPr lang="en-US" sz="2100" dirty="0">
                <a:solidFill>
                  <a:srgbClr val="344FCC"/>
                </a:solidFill>
                <a:latin typeface="Poppins "/>
                <a:cs typeface="Poppins Bold" panose="00000800000000000000" charset="0"/>
              </a:rPr>
              <a:t>Limit excessive discounts</a:t>
            </a:r>
          </a:p>
          <a:p>
            <a:r>
              <a:rPr lang="en-US" sz="2100" dirty="0">
                <a:solidFill>
                  <a:srgbClr val="344FCC"/>
                </a:solidFill>
                <a:latin typeface="Poppins "/>
                <a:cs typeface="Poppins Bold" panose="00000800000000000000" charset="0"/>
              </a:rPr>
              <a:t>Align discounts with customer lifetime value</a:t>
            </a:r>
          </a:p>
          <a:p>
            <a:pPr marL="226696" lvl="1" algn="l">
              <a:lnSpc>
                <a:spcPts val="2940"/>
              </a:lnSpc>
            </a:pPr>
            <a:endParaRPr lang="en-US" sz="2100" dirty="0">
              <a:solidFill>
                <a:srgbClr val="344F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20FE55-5806-D593-E9E6-40B0E9195840}"/>
              </a:ext>
            </a:extLst>
          </p:cNvPr>
          <p:cNvSpPr txBox="1"/>
          <p:nvPr/>
        </p:nvSpPr>
        <p:spPr>
          <a:xfrm>
            <a:off x="5907248" y="2153364"/>
            <a:ext cx="685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Actionable Recommendations</a:t>
            </a:r>
            <a:endParaRPr lang="en-US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7" name="Group 25">
            <a:extLst>
              <a:ext uri="{FF2B5EF4-FFF2-40B4-BE49-F238E27FC236}">
                <a16:creationId xmlns:a16="http://schemas.microsoft.com/office/drawing/2014/main" id="{16074598-28AF-7152-56BF-88A1BDE2DE02}"/>
              </a:ext>
            </a:extLst>
          </p:cNvPr>
          <p:cNvGrpSpPr/>
          <p:nvPr/>
        </p:nvGrpSpPr>
        <p:grpSpPr>
          <a:xfrm>
            <a:off x="3805631" y="6640400"/>
            <a:ext cx="4792372" cy="685192"/>
            <a:chOff x="0" y="0"/>
            <a:chExt cx="5107630" cy="913589"/>
          </a:xfrm>
        </p:grpSpPr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920519CA-F0D8-77B6-E478-E4E845A4ABA7}"/>
                </a:ext>
              </a:extLst>
            </p:cNvPr>
            <p:cNvSpPr/>
            <p:nvPr/>
          </p:nvSpPr>
          <p:spPr>
            <a:xfrm rot="5400000">
              <a:off x="395741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96D38166-CD95-A4AC-E748-EB9FFBCFFE65}"/>
                </a:ext>
              </a:extLst>
            </p:cNvPr>
            <p:cNvSpPr/>
            <p:nvPr/>
          </p:nvSpPr>
          <p:spPr>
            <a:xfrm rot="5400000">
              <a:off x="309712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7FE6C38F-E137-A186-483F-D5DEB91CE445}"/>
                </a:ext>
              </a:extLst>
            </p:cNvPr>
            <p:cNvSpPr/>
            <p:nvPr/>
          </p:nvSpPr>
          <p:spPr>
            <a:xfrm rot="5400000">
              <a:off x="231576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A786838B-B984-A8FB-0B34-18331115F29B}"/>
                </a:ext>
              </a:extLst>
            </p:cNvPr>
            <p:cNvSpPr/>
            <p:nvPr/>
          </p:nvSpPr>
          <p:spPr>
            <a:xfrm rot="5400000">
              <a:off x="181853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12D1DB79-270A-F6A5-5D35-23B46D481A4A}"/>
                </a:ext>
              </a:extLst>
            </p:cNvPr>
            <p:cNvSpPr/>
            <p:nvPr/>
          </p:nvSpPr>
          <p:spPr>
            <a:xfrm rot="5400000">
              <a:off x="2375511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FFF9F0F0-F5E9-52D9-4BD4-1AA4EF27F5F6}"/>
                </a:ext>
              </a:extLst>
            </p:cNvPr>
            <p:cNvSpPr/>
            <p:nvPr/>
          </p:nvSpPr>
          <p:spPr>
            <a:xfrm rot="5400000">
              <a:off x="1515224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21C53E06-3D46-C17F-9E6B-90634E39B934}"/>
                </a:ext>
              </a:extLst>
            </p:cNvPr>
            <p:cNvSpPr/>
            <p:nvPr/>
          </p:nvSpPr>
          <p:spPr>
            <a:xfrm rot="5400000">
              <a:off x="73386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D29506C1-427B-1B0C-CBE4-408F53559D76}"/>
                </a:ext>
              </a:extLst>
            </p:cNvPr>
            <p:cNvSpPr/>
            <p:nvPr/>
          </p:nvSpPr>
          <p:spPr>
            <a:xfrm rot="5400000">
              <a:off x="23663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TextBox 43">
            <a:extLst>
              <a:ext uri="{FF2B5EF4-FFF2-40B4-BE49-F238E27FC236}">
                <a16:creationId xmlns:a16="http://schemas.microsoft.com/office/drawing/2014/main" id="{AFAFD1FC-7567-C59B-B09B-64540B51438A}"/>
              </a:ext>
            </a:extLst>
          </p:cNvPr>
          <p:cNvSpPr txBox="1"/>
          <p:nvPr/>
        </p:nvSpPr>
        <p:spPr>
          <a:xfrm>
            <a:off x="3982704" y="6705807"/>
            <a:ext cx="4719787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bg1"/>
                </a:solidFill>
                <a:latin typeface="Poppins Bold" panose="00000800000000000000" charset="0"/>
                <a:ea typeface="Poppins Bold"/>
                <a:cs typeface="Poppins Bold" panose="00000800000000000000" charset="0"/>
                <a:sym typeface="Poppins Bold"/>
              </a:rPr>
              <a:t>Monetization Strategy</a:t>
            </a:r>
          </a:p>
        </p:txBody>
      </p:sp>
      <p:grpSp>
        <p:nvGrpSpPr>
          <p:cNvPr id="76" name="Group 25">
            <a:extLst>
              <a:ext uri="{FF2B5EF4-FFF2-40B4-BE49-F238E27FC236}">
                <a16:creationId xmlns:a16="http://schemas.microsoft.com/office/drawing/2014/main" id="{C5E568C1-272D-4DB4-623C-06AC82A4AD8E}"/>
              </a:ext>
            </a:extLst>
          </p:cNvPr>
          <p:cNvGrpSpPr/>
          <p:nvPr/>
        </p:nvGrpSpPr>
        <p:grpSpPr>
          <a:xfrm>
            <a:off x="9671445" y="6516288"/>
            <a:ext cx="4792372" cy="685192"/>
            <a:chOff x="0" y="0"/>
            <a:chExt cx="5107630" cy="913589"/>
          </a:xfrm>
        </p:grpSpPr>
        <p:sp>
          <p:nvSpPr>
            <p:cNvPr id="77" name="Freeform 26">
              <a:extLst>
                <a:ext uri="{FF2B5EF4-FFF2-40B4-BE49-F238E27FC236}">
                  <a16:creationId xmlns:a16="http://schemas.microsoft.com/office/drawing/2014/main" id="{37A8E452-6B51-C696-8217-72567353918B}"/>
                </a:ext>
              </a:extLst>
            </p:cNvPr>
            <p:cNvSpPr/>
            <p:nvPr/>
          </p:nvSpPr>
          <p:spPr>
            <a:xfrm rot="5400000">
              <a:off x="395741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7">
              <a:extLst>
                <a:ext uri="{FF2B5EF4-FFF2-40B4-BE49-F238E27FC236}">
                  <a16:creationId xmlns:a16="http://schemas.microsoft.com/office/drawing/2014/main" id="{D5DB91EF-11FB-AA27-DCF5-163E23A7F74F}"/>
                </a:ext>
              </a:extLst>
            </p:cNvPr>
            <p:cNvSpPr/>
            <p:nvPr/>
          </p:nvSpPr>
          <p:spPr>
            <a:xfrm rot="5400000">
              <a:off x="309712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BAB8E9F4-E4DA-A036-9683-049470122C0E}"/>
                </a:ext>
              </a:extLst>
            </p:cNvPr>
            <p:cNvSpPr/>
            <p:nvPr/>
          </p:nvSpPr>
          <p:spPr>
            <a:xfrm rot="5400000">
              <a:off x="231576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29">
              <a:extLst>
                <a:ext uri="{FF2B5EF4-FFF2-40B4-BE49-F238E27FC236}">
                  <a16:creationId xmlns:a16="http://schemas.microsoft.com/office/drawing/2014/main" id="{959FD9DA-1215-5579-3BA6-3DBE5B8DD857}"/>
                </a:ext>
              </a:extLst>
            </p:cNvPr>
            <p:cNvSpPr/>
            <p:nvPr/>
          </p:nvSpPr>
          <p:spPr>
            <a:xfrm rot="5400000">
              <a:off x="1818530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5A82A88C-A6EF-4B74-C22D-0C4EB51F28D2}"/>
                </a:ext>
              </a:extLst>
            </p:cNvPr>
            <p:cNvSpPr/>
            <p:nvPr/>
          </p:nvSpPr>
          <p:spPr>
            <a:xfrm rot="5400000">
              <a:off x="2375511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1">
              <a:extLst>
                <a:ext uri="{FF2B5EF4-FFF2-40B4-BE49-F238E27FC236}">
                  <a16:creationId xmlns:a16="http://schemas.microsoft.com/office/drawing/2014/main" id="{B0FB8529-6F0C-23D8-A7C0-E8C47EAB6A6A}"/>
                </a:ext>
              </a:extLst>
            </p:cNvPr>
            <p:cNvSpPr/>
            <p:nvPr/>
          </p:nvSpPr>
          <p:spPr>
            <a:xfrm rot="5400000">
              <a:off x="1515224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4831356F-A836-9DBA-6AC8-310A7A6042A7}"/>
                </a:ext>
              </a:extLst>
            </p:cNvPr>
            <p:cNvSpPr/>
            <p:nvPr/>
          </p:nvSpPr>
          <p:spPr>
            <a:xfrm rot="5400000">
              <a:off x="73386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9" y="0"/>
                  </a:lnTo>
                  <a:lnTo>
                    <a:pt x="913589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id="{9CBC4B9F-3341-A81C-7B13-4440AC4598D8}"/>
                </a:ext>
              </a:extLst>
            </p:cNvPr>
            <p:cNvSpPr/>
            <p:nvPr/>
          </p:nvSpPr>
          <p:spPr>
            <a:xfrm rot="5400000">
              <a:off x="236632" y="-236632"/>
              <a:ext cx="913589" cy="1386852"/>
            </a:xfrm>
            <a:custGeom>
              <a:avLst/>
              <a:gdLst/>
              <a:ahLst/>
              <a:cxnLst/>
              <a:rect l="l" t="t" r="r" b="b"/>
              <a:pathLst>
                <a:path w="913589" h="1386852">
                  <a:moveTo>
                    <a:pt x="0" y="0"/>
                  </a:moveTo>
                  <a:lnTo>
                    <a:pt x="913588" y="0"/>
                  </a:lnTo>
                  <a:lnTo>
                    <a:pt x="913588" y="1386852"/>
                  </a:lnTo>
                  <a:lnTo>
                    <a:pt x="0" y="138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" name="TextBox 43">
            <a:extLst>
              <a:ext uri="{FF2B5EF4-FFF2-40B4-BE49-F238E27FC236}">
                <a16:creationId xmlns:a16="http://schemas.microsoft.com/office/drawing/2014/main" id="{EF2B2BD5-3FC0-E1BB-7C39-CBB9338BE641}"/>
              </a:ext>
            </a:extLst>
          </p:cNvPr>
          <p:cNvSpPr txBox="1"/>
          <p:nvPr/>
        </p:nvSpPr>
        <p:spPr>
          <a:xfrm>
            <a:off x="9969038" y="6640399"/>
            <a:ext cx="4719787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bg1"/>
                </a:solidFill>
                <a:latin typeface="Poppins Bold" panose="00000800000000000000" charset="0"/>
                <a:ea typeface="Poppins Bold"/>
                <a:cs typeface="Poppins Bold" panose="00000800000000000000" charset="0"/>
                <a:sym typeface="Poppins Bold"/>
              </a:rPr>
              <a:t>Retention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350702" y="2482182"/>
            <a:ext cx="3436024" cy="5215976"/>
          </a:xfrm>
          <a:custGeom>
            <a:avLst/>
            <a:gdLst/>
            <a:ahLst/>
            <a:cxnLst/>
            <a:rect l="l" t="t" r="r" b="b"/>
            <a:pathLst>
              <a:path w="3436024" h="5215976">
                <a:moveTo>
                  <a:pt x="0" y="0"/>
                </a:moveTo>
                <a:lnTo>
                  <a:pt x="3436024" y="0"/>
                </a:lnTo>
                <a:lnTo>
                  <a:pt x="3436024" y="5215976"/>
                </a:lnTo>
                <a:lnTo>
                  <a:pt x="0" y="5215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90498" y="-486700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932835">
            <a:off x="6549656" y="8868678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1"/>
                </a:lnTo>
                <a:lnTo>
                  <a:pt x="0" y="270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93708" y="2155534"/>
            <a:ext cx="1146744" cy="1349110"/>
          </a:xfrm>
          <a:custGeom>
            <a:avLst/>
            <a:gdLst/>
            <a:ahLst/>
            <a:cxnLst/>
            <a:rect l="l" t="t" r="r" b="b"/>
            <a:pathLst>
              <a:path w="1146744" h="1349110">
                <a:moveTo>
                  <a:pt x="0" y="0"/>
                </a:moveTo>
                <a:lnTo>
                  <a:pt x="1146744" y="0"/>
                </a:lnTo>
                <a:lnTo>
                  <a:pt x="1146744" y="1349110"/>
                </a:lnTo>
                <a:lnTo>
                  <a:pt x="0" y="134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518770" y="3048798"/>
            <a:ext cx="774939" cy="911692"/>
          </a:xfrm>
          <a:custGeom>
            <a:avLst/>
            <a:gdLst/>
            <a:ahLst/>
            <a:cxnLst/>
            <a:rect l="l" t="t" r="r" b="b"/>
            <a:pathLst>
              <a:path w="774939" h="911692">
                <a:moveTo>
                  <a:pt x="0" y="0"/>
                </a:moveTo>
                <a:lnTo>
                  <a:pt x="774938" y="0"/>
                </a:lnTo>
                <a:lnTo>
                  <a:pt x="774938" y="911692"/>
                </a:lnTo>
                <a:lnTo>
                  <a:pt x="0" y="91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267434" y="8117575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8" y="0"/>
                </a:lnTo>
                <a:lnTo>
                  <a:pt x="486878" y="572798"/>
                </a:lnTo>
                <a:lnTo>
                  <a:pt x="0" y="572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971800" y="1280139"/>
            <a:ext cx="8109334" cy="96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7830" dirty="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7899" y="3140819"/>
            <a:ext cx="7495826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By addressing:</a:t>
            </a:r>
          </a:p>
          <a:p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Discount leakage</a:t>
            </a:r>
          </a:p>
          <a:p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Billing inefficiencies</a:t>
            </a:r>
          </a:p>
          <a:p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Under-monetized customers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42925" y="5980742"/>
            <a:ext cx="6400800" cy="2743200"/>
            <a:chOff x="0" y="0"/>
            <a:chExt cx="8453072" cy="2190363"/>
          </a:xfrm>
        </p:grpSpPr>
        <p:sp>
          <p:nvSpPr>
            <p:cNvPr id="14" name="Freeform 14"/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907803" y="6287225"/>
            <a:ext cx="6103265" cy="289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FinSecure Technologies can:</a:t>
            </a:r>
          </a:p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Recover lost revenue</a:t>
            </a:r>
          </a:p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 cash flow</a:t>
            </a:r>
          </a:p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Increase customer lifetime value</a:t>
            </a:r>
          </a:p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 a more sustainable revenue model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194311" lvl="1"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5C1F-0F16-1944-9298-9D0CE311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2D1905-D131-A2EF-39CF-883420B89E40}"/>
              </a:ext>
            </a:extLst>
          </p:cNvPr>
          <p:cNvSpPr/>
          <p:nvPr/>
        </p:nvSpPr>
        <p:spPr>
          <a:xfrm rot="5400000" flipV="1">
            <a:off x="17269384" y="2414811"/>
            <a:ext cx="2245145" cy="3408190"/>
          </a:xfrm>
          <a:custGeom>
            <a:avLst/>
            <a:gdLst/>
            <a:ahLst/>
            <a:cxnLst/>
            <a:rect l="l" t="t" r="r" b="b"/>
            <a:pathLst>
              <a:path w="2245145" h="3408190">
                <a:moveTo>
                  <a:pt x="0" y="3408191"/>
                </a:moveTo>
                <a:lnTo>
                  <a:pt x="2245145" y="3408191"/>
                </a:lnTo>
                <a:lnTo>
                  <a:pt x="2245145" y="0"/>
                </a:lnTo>
                <a:lnTo>
                  <a:pt x="0" y="0"/>
                </a:lnTo>
                <a:lnTo>
                  <a:pt x="0" y="34081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5A6B67-1FEB-A085-CA4D-F92767FFE896}"/>
              </a:ext>
            </a:extLst>
          </p:cNvPr>
          <p:cNvSpPr/>
          <p:nvPr/>
        </p:nvSpPr>
        <p:spPr>
          <a:xfrm>
            <a:off x="1633659" y="2630788"/>
            <a:ext cx="5253518" cy="6541591"/>
          </a:xfrm>
          <a:custGeom>
            <a:avLst/>
            <a:gdLst/>
            <a:ahLst/>
            <a:cxnLst/>
            <a:rect l="l" t="t" r="r" b="b"/>
            <a:pathLst>
              <a:path w="7955369" h="7666987">
                <a:moveTo>
                  <a:pt x="0" y="0"/>
                </a:moveTo>
                <a:lnTo>
                  <a:pt x="7955368" y="0"/>
                </a:lnTo>
                <a:lnTo>
                  <a:pt x="7955368" y="7666986"/>
                </a:lnTo>
                <a:lnTo>
                  <a:pt x="0" y="7666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43A986-EEA7-8C64-63CE-4BE5FBF5A9FE}"/>
              </a:ext>
            </a:extLst>
          </p:cNvPr>
          <p:cNvSpPr/>
          <p:nvPr/>
        </p:nvSpPr>
        <p:spPr>
          <a:xfrm rot="4652168">
            <a:off x="15740102" y="-695066"/>
            <a:ext cx="3038397" cy="3030801"/>
          </a:xfrm>
          <a:custGeom>
            <a:avLst/>
            <a:gdLst/>
            <a:ahLst/>
            <a:cxnLst/>
            <a:rect l="l" t="t" r="r" b="b"/>
            <a:pathLst>
              <a:path w="3038397" h="3030801">
                <a:moveTo>
                  <a:pt x="0" y="0"/>
                </a:moveTo>
                <a:lnTo>
                  <a:pt x="3038396" y="0"/>
                </a:lnTo>
                <a:lnTo>
                  <a:pt x="3038396" y="3030800"/>
                </a:lnTo>
                <a:lnTo>
                  <a:pt x="0" y="303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9B783A6-49F8-D0F8-468E-2DC163BEAB98}"/>
              </a:ext>
            </a:extLst>
          </p:cNvPr>
          <p:cNvSpPr/>
          <p:nvPr/>
        </p:nvSpPr>
        <p:spPr>
          <a:xfrm rot="-7932835">
            <a:off x="951463" y="8932745"/>
            <a:ext cx="2715299" cy="2708511"/>
          </a:xfrm>
          <a:custGeom>
            <a:avLst/>
            <a:gdLst/>
            <a:ahLst/>
            <a:cxnLst/>
            <a:rect l="l" t="t" r="r" b="b"/>
            <a:pathLst>
              <a:path w="2715299" h="2708511">
                <a:moveTo>
                  <a:pt x="0" y="0"/>
                </a:moveTo>
                <a:lnTo>
                  <a:pt x="2715299" y="0"/>
                </a:lnTo>
                <a:lnTo>
                  <a:pt x="2715299" y="2708510"/>
                </a:lnTo>
                <a:lnTo>
                  <a:pt x="0" y="270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A80CE48-5613-3F70-C6A4-4C3EACA186C8}"/>
              </a:ext>
            </a:extLst>
          </p:cNvPr>
          <p:cNvGrpSpPr/>
          <p:nvPr/>
        </p:nvGrpSpPr>
        <p:grpSpPr>
          <a:xfrm>
            <a:off x="1028700" y="1028700"/>
            <a:ext cx="1921682" cy="1804957"/>
            <a:chOff x="0" y="0"/>
            <a:chExt cx="2562243" cy="240660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8AFFAB-E967-7984-E421-814C5356541E}"/>
                </a:ext>
              </a:extLst>
            </p:cNvPr>
            <p:cNvSpPr/>
            <p:nvPr/>
          </p:nvSpPr>
          <p:spPr>
            <a:xfrm>
              <a:off x="1033251" y="0"/>
              <a:ext cx="1528992" cy="1798814"/>
            </a:xfrm>
            <a:custGeom>
              <a:avLst/>
              <a:gdLst/>
              <a:ahLst/>
              <a:cxnLst/>
              <a:rect l="l" t="t" r="r" b="b"/>
              <a:pathLst>
                <a:path w="1528992" h="1798814">
                  <a:moveTo>
                    <a:pt x="0" y="0"/>
                  </a:moveTo>
                  <a:lnTo>
                    <a:pt x="1528992" y="0"/>
                  </a:lnTo>
                  <a:lnTo>
                    <a:pt x="1528992" y="1798814"/>
                  </a:lnTo>
                  <a:lnTo>
                    <a:pt x="0" y="1798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1C41EAD-7D48-96AE-9448-48FB5ECE64E4}"/>
                </a:ext>
              </a:extLst>
            </p:cNvPr>
            <p:cNvSpPr/>
            <p:nvPr/>
          </p:nvSpPr>
          <p:spPr>
            <a:xfrm>
              <a:off x="0" y="1191019"/>
              <a:ext cx="1033251" cy="1215590"/>
            </a:xfrm>
            <a:custGeom>
              <a:avLst/>
              <a:gdLst/>
              <a:ahLst/>
              <a:cxnLst/>
              <a:rect l="l" t="t" r="r" b="b"/>
              <a:pathLst>
                <a:path w="1033251" h="1215590">
                  <a:moveTo>
                    <a:pt x="0" y="0"/>
                  </a:moveTo>
                  <a:lnTo>
                    <a:pt x="1033251" y="0"/>
                  </a:lnTo>
                  <a:lnTo>
                    <a:pt x="1033251" y="1215590"/>
                  </a:lnTo>
                  <a:lnTo>
                    <a:pt x="0" y="121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B7D368D-362B-5EBD-AF9F-F2642F580DFB}"/>
              </a:ext>
            </a:extLst>
          </p:cNvPr>
          <p:cNvSpPr/>
          <p:nvPr/>
        </p:nvSpPr>
        <p:spPr>
          <a:xfrm>
            <a:off x="8341429" y="8565009"/>
            <a:ext cx="486879" cy="572799"/>
          </a:xfrm>
          <a:custGeom>
            <a:avLst/>
            <a:gdLst/>
            <a:ahLst/>
            <a:cxnLst/>
            <a:rect l="l" t="t" r="r" b="b"/>
            <a:pathLst>
              <a:path w="486879" h="572799">
                <a:moveTo>
                  <a:pt x="0" y="0"/>
                </a:moveTo>
                <a:lnTo>
                  <a:pt x="486879" y="0"/>
                </a:lnTo>
                <a:lnTo>
                  <a:pt x="486879" y="572799"/>
                </a:lnTo>
                <a:lnTo>
                  <a:pt x="0" y="572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3E8CE3-803B-E77E-5923-4D9DB213800F}"/>
              </a:ext>
            </a:extLst>
          </p:cNvPr>
          <p:cNvGrpSpPr/>
          <p:nvPr/>
        </p:nvGrpSpPr>
        <p:grpSpPr>
          <a:xfrm>
            <a:off x="7809834" y="2744105"/>
            <a:ext cx="10249565" cy="6041734"/>
            <a:chOff x="0" y="0"/>
            <a:chExt cx="8453071" cy="219036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B029654-67FC-D50F-3702-88B287D2B17D}"/>
                </a:ext>
              </a:extLst>
            </p:cNvPr>
            <p:cNvSpPr/>
            <p:nvPr/>
          </p:nvSpPr>
          <p:spPr>
            <a:xfrm rot="5400000">
              <a:off x="5695376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2" y="0"/>
                  </a:lnTo>
                  <a:lnTo>
                    <a:pt x="2190362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4ED82CD-FD92-3195-3EA2-76B039BEDB0D}"/>
                </a:ext>
              </a:extLst>
            </p:cNvPr>
            <p:cNvSpPr/>
            <p:nvPr/>
          </p:nvSpPr>
          <p:spPr>
            <a:xfrm rot="5400000">
              <a:off x="3632805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81CFAB2-1556-ED0E-FFDC-3034A687D4CB}"/>
                </a:ext>
              </a:extLst>
            </p:cNvPr>
            <p:cNvSpPr/>
            <p:nvPr/>
          </p:nvSpPr>
          <p:spPr>
            <a:xfrm rot="5400000">
              <a:off x="1759461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7A29BE9-D6A3-02D1-648F-1E307D419D30}"/>
                </a:ext>
              </a:extLst>
            </p:cNvPr>
            <p:cNvSpPr/>
            <p:nvPr/>
          </p:nvSpPr>
          <p:spPr>
            <a:xfrm rot="5400000">
              <a:off x="567333" y="-567333"/>
              <a:ext cx="2190363" cy="3325029"/>
            </a:xfrm>
            <a:custGeom>
              <a:avLst/>
              <a:gdLst/>
              <a:ahLst/>
              <a:cxnLst/>
              <a:rect l="l" t="t" r="r" b="b"/>
              <a:pathLst>
                <a:path w="2190363" h="3325029">
                  <a:moveTo>
                    <a:pt x="0" y="0"/>
                  </a:moveTo>
                  <a:lnTo>
                    <a:pt x="2190363" y="0"/>
                  </a:lnTo>
                  <a:lnTo>
                    <a:pt x="2190363" y="3325029"/>
                  </a:lnTo>
                  <a:lnTo>
                    <a:pt x="0" y="332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406E7CA-E250-26B4-EB55-36BC09F624DC}"/>
              </a:ext>
            </a:extLst>
          </p:cNvPr>
          <p:cNvSpPr/>
          <p:nvPr/>
        </p:nvSpPr>
        <p:spPr>
          <a:xfrm>
            <a:off x="2002332" y="2630788"/>
            <a:ext cx="4701714" cy="6155051"/>
          </a:xfrm>
          <a:custGeom>
            <a:avLst/>
            <a:gdLst/>
            <a:ahLst/>
            <a:cxnLst/>
            <a:rect l="l" t="t" r="r" b="b"/>
            <a:pathLst>
              <a:path w="5929523" h="6524922">
                <a:moveTo>
                  <a:pt x="0" y="0"/>
                </a:moveTo>
                <a:lnTo>
                  <a:pt x="5929523" y="0"/>
                </a:lnTo>
                <a:lnTo>
                  <a:pt x="5929523" y="6524922"/>
                </a:lnTo>
                <a:lnTo>
                  <a:pt x="0" y="6524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9142F3-7C3B-F6A3-787F-C88F17C45B99}"/>
              </a:ext>
            </a:extLst>
          </p:cNvPr>
          <p:cNvSpPr txBox="1"/>
          <p:nvPr/>
        </p:nvSpPr>
        <p:spPr>
          <a:xfrm>
            <a:off x="8153400" y="3467099"/>
            <a:ext cx="89916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rPr>
              <a:t>THANK YOU</a:t>
            </a:r>
            <a:endParaRPr lang="en-US" dirty="0">
              <a:solidFill>
                <a:schemeClr val="bg1"/>
              </a:solidFill>
              <a:latin typeface="Poppins Bold" panose="00000800000000000000" charset="0"/>
              <a:cs typeface="Poppins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26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656</Words>
  <Application>Microsoft Office PowerPoint</Application>
  <PresentationFormat>Custom</PresentationFormat>
  <Paragraphs>112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 </vt:lpstr>
      <vt:lpstr>Poppins Bold</vt:lpstr>
      <vt:lpstr>Poppins</vt:lpstr>
      <vt:lpstr>Calibri</vt:lpstr>
      <vt:lpstr>Etna Sans Serif</vt:lpstr>
      <vt:lpstr>Poppins Extra-Light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Illustrative Data Privacy And Protection Presentation</dc:title>
  <dc:creator>HP</dc:creator>
  <cp:lastModifiedBy>opeyemi akinlade</cp:lastModifiedBy>
  <cp:revision>3</cp:revision>
  <dcterms:created xsi:type="dcterms:W3CDTF">2006-08-16T00:00:00Z</dcterms:created>
  <dcterms:modified xsi:type="dcterms:W3CDTF">2026-01-20T16:58:41Z</dcterms:modified>
  <dc:identifier>DAG-9giPTnQ</dc:identifier>
</cp:coreProperties>
</file>